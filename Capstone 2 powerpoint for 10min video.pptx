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05" r:id="rId5"/>
    <p:sldId id="306" r:id="rId6"/>
    <p:sldId id="308" r:id="rId7"/>
    <p:sldId id="311" r:id="rId8"/>
    <p:sldId id="313" r:id="rId9"/>
    <p:sldId id="314" r:id="rId10"/>
    <p:sldId id="319" r:id="rId11"/>
    <p:sldId id="31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792" userDrawn="1">
          <p15:clr>
            <a:srgbClr val="A4A3A4"/>
          </p15:clr>
        </p15:guide>
        <p15:guide id="3" pos="528" userDrawn="1">
          <p15:clr>
            <a:srgbClr val="A4A3A4"/>
          </p15:clr>
        </p15:guide>
        <p15:guide id="4" pos="7128" userDrawn="1">
          <p15:clr>
            <a:srgbClr val="A4A3A4"/>
          </p15:clr>
        </p15:guide>
        <p15:guide id="5" orient="horz" pos="2808" userDrawn="1">
          <p15:clr>
            <a:srgbClr val="A4A3A4"/>
          </p15:clr>
        </p15:guide>
        <p15:guide id="6" pos="2976" userDrawn="1">
          <p15:clr>
            <a:srgbClr val="A4A3A4"/>
          </p15:clr>
        </p15:guide>
        <p15:guide id="7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009004-9551-232D-2FB2-516CA5FE50FC}" v="1409" dt="2026-05-28T19:09:02.849"/>
  </p1510:revLst>
</p1510:revInfo>
</file>

<file path=ppt/tableStyles.xml><?xml version="1.0" encoding="utf-8"?>
<a:tblStyleLst xmlns:a="http://schemas.openxmlformats.org/drawingml/2006/main" def="{68D230F3-CF80-4859-8CE7-A43EE81993B5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77"/>
    <p:restoredTop sz="94682"/>
  </p:normalViewPr>
  <p:slideViewPr>
    <p:cSldViewPr snapToGrid="0">
      <p:cViewPr varScale="1">
        <p:scale>
          <a:sx n="53" d="100"/>
          <a:sy n="53" d="100"/>
        </p:scale>
        <p:origin x="480" y="62"/>
      </p:cViewPr>
      <p:guideLst>
        <p:guide orient="horz" pos="3792"/>
        <p:guide pos="528"/>
        <p:guide pos="7128"/>
        <p:guide orient="horz" pos="2808"/>
        <p:guide pos="2976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DBDA2-4480-4D82-8886-1B64A7ECBBAC}" type="datetimeFigureOut">
              <a:rPr lang="en-US" noProof="0" smtClean="0"/>
              <a:t>5/29/2026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DBACE-0F8F-43FD-98F0-DEE13552DAD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572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215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880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1EF8CAB-74EE-F5E0-2A98-D49729C5739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783521D-ED5D-D5DB-16FA-CD1B1203DF6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87659"/>
          <a:stretch/>
        </p:blipFill>
        <p:spPr>
          <a:xfrm>
            <a:off x="0" y="5731979"/>
            <a:ext cx="1504645" cy="114640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381EED1-F8B1-76DD-2AF9-959C65437F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D23ADF4-87AF-5693-9986-341478D502B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E5EE104-2241-C262-895C-BCA76913401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19B7E7AC-A0E6-BE9A-4728-8FE036CF35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140000"/>
              </a:lnSpc>
              <a:spcAft>
                <a:spcPts val="0"/>
              </a:spcAft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640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1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F0337A6-0579-B5BC-C526-F7EBDDB8E84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166F179-9203-AC2D-A267-E25FA28E978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BFC5468-5E1B-2FE4-DA95-D0CCC383D3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17493C4-12E7-500C-5FD5-68370B57A20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49B5038-6091-D5DF-F2DA-3900885F498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442ADAB-F6BA-A55C-036E-C837F95C8F8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1240" y="2231136"/>
            <a:ext cx="6080760" cy="4626864"/>
          </a:xfr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6931152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6931152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9452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E18B122A-848F-E50E-C503-3930933A5C6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8908"/>
          <a:stretch/>
        </p:blipFill>
        <p:spPr>
          <a:xfrm>
            <a:off x="8401354" y="0"/>
            <a:ext cx="3790646" cy="685799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8CD9875-E4AF-D7EA-9F8B-D27F2C3104A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513E8A3-5E78-5821-6B7B-AF6343ACA73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256415C-5388-7D35-1C15-8DA4ACDCA1F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B78E2E7-B83A-F17C-9869-FED59DD512E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616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2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321C850-160D-5CD7-B829-ADE752EA7AB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0000"/>
          <a:stretch/>
        </p:blipFill>
        <p:spPr>
          <a:xfrm>
            <a:off x="6096000" y="0"/>
            <a:ext cx="6096000" cy="685799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3105707-8D59-D00C-596A-380479D0E0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DC4FC4F-BE00-1554-FEBD-DE21F3AB35B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A310F08-0B34-7E1C-7605-4F81502355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3371AFC-6FAC-3C10-CCC0-ECE8DB9E997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024" cy="2679192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462272"/>
            <a:ext cx="12188952" cy="239572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803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0F0E0D3-11E9-A85D-821D-49C27B06B06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433D848-BBB0-8852-CBA7-96FB04BFADE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556"/>
          <a:stretch/>
        </p:blipFill>
        <p:spPr>
          <a:xfrm>
            <a:off x="10687351" y="4584700"/>
            <a:ext cx="1504649" cy="11303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A0A5B28-1267-FF8C-DD34-4AE0CE17FD9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2FE7896-D379-408C-54BB-757C71F0DEF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9515" r="34180"/>
          <a:stretch/>
        </p:blipFill>
        <p:spPr>
          <a:xfrm>
            <a:off x="10687351" y="1141376"/>
            <a:ext cx="1504649" cy="11540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7E02B10-F9DF-509C-64D5-91DEB69881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1455" y="1536826"/>
            <a:ext cx="5650992" cy="557784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2267712"/>
            <a:ext cx="5650992" cy="376732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375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DCE1CF12-4201-C23B-7B9A-02EB4F8A79C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396"/>
          <a:stretch/>
        </p:blipFill>
        <p:spPr>
          <a:xfrm>
            <a:off x="0" y="5731980"/>
            <a:ext cx="12192000" cy="11387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13CE0C7-867A-80BB-9E96-3008375B7EE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68854" b="83396"/>
          <a:stretch/>
        </p:blipFill>
        <p:spPr>
          <a:xfrm>
            <a:off x="0" y="12700"/>
            <a:ext cx="3797300" cy="11387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36CB758-B1DB-F2E0-00E7-BF5660C5F25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598" b="49858"/>
          <a:stretch/>
        </p:blipFill>
        <p:spPr>
          <a:xfrm>
            <a:off x="0" y="9452"/>
            <a:ext cx="1517954" cy="11462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024" y="841248"/>
            <a:ext cx="6556248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A780F1E2-F795-D408-7361-9B32EA12F8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836676"/>
            <a:ext cx="3785616" cy="518464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64023" y="1536827"/>
            <a:ext cx="6556247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05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740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342900" indent="-342900">
              <a:lnSpc>
                <a:spcPct val="90000"/>
              </a:lnSpc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7448" y="1536827"/>
            <a:ext cx="6592824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FD831DA-EDBD-A492-3E6D-6ABBF4438FC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7659" b="83148"/>
          <a:stretch/>
        </p:blipFill>
        <p:spPr>
          <a:xfrm>
            <a:off x="10687350" y="12700"/>
            <a:ext cx="1504649" cy="11557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0071AEB-E268-A464-7197-69FA762C3C5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49444"/>
          <a:stretch/>
        </p:blipFill>
        <p:spPr>
          <a:xfrm>
            <a:off x="10687351" y="9452"/>
            <a:ext cx="1504649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87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C5788EE-4EDA-20FA-8EB9-2F0639E8A2B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D053CA0-7A9F-FC49-AD3F-F3280344D76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67F6939-7B7E-F49F-8219-DC8CDAC85D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ACCA700-291A-CD50-0CF3-749300C8D7A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EFADD4D-8EF2-3DF8-F5F4-9459752D546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5B36F67-81DA-36AC-5D17-0172FF5A70C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1248" y="1527048"/>
            <a:ext cx="10479024" cy="4498848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46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3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2952" y="0"/>
            <a:ext cx="6099048" cy="687628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4" name="Title 123">
            <a:extLst>
              <a:ext uri="{FF2B5EF4-FFF2-40B4-BE49-F238E27FC236}">
                <a16:creationId xmlns:a16="http://schemas.microsoft.com/office/drawing/2014/main" id="{5EF8E4BF-2FB4-FFDD-E565-805C47624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4" y="832104"/>
            <a:ext cx="6099048" cy="5219236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3" name="Text Placeholder 122">
            <a:extLst>
              <a:ext uri="{FF2B5EF4-FFF2-40B4-BE49-F238E27FC236}">
                <a16:creationId xmlns:a16="http://schemas.microsoft.com/office/drawing/2014/main" id="{25C59923-6546-AB3B-534C-22113CD9D6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1353" y="-1"/>
            <a:ext cx="3790650" cy="1155691"/>
          </a:xfrm>
          <a:custGeom>
            <a:avLst/>
            <a:gdLst>
              <a:gd name="connsiteX0" fmla="*/ 2293575 w 3790650"/>
              <a:gd name="connsiteY0" fmla="*/ 0 h 1155691"/>
              <a:gd name="connsiteX1" fmla="*/ 3790650 w 3790650"/>
              <a:gd name="connsiteY1" fmla="*/ 0 h 1155691"/>
              <a:gd name="connsiteX2" fmla="*/ 3790650 w 3790650"/>
              <a:gd name="connsiteY2" fmla="*/ 1098632 h 1155691"/>
              <a:gd name="connsiteX3" fmla="*/ 3775153 w 3790650"/>
              <a:gd name="connsiteY3" fmla="*/ 1104304 h 1155691"/>
              <a:gd name="connsiteX4" fmla="*/ 3435268 w 3790650"/>
              <a:gd name="connsiteY4" fmla="*/ 1155691 h 1155691"/>
              <a:gd name="connsiteX5" fmla="*/ 2292295 w 3790650"/>
              <a:gd name="connsiteY5" fmla="*/ 12701 h 1155691"/>
              <a:gd name="connsiteX6" fmla="*/ 1280 w 3790650"/>
              <a:gd name="connsiteY6" fmla="*/ 0 h 1155691"/>
              <a:gd name="connsiteX7" fmla="*/ 2284665 w 3790650"/>
              <a:gd name="connsiteY7" fmla="*/ 0 h 1155691"/>
              <a:gd name="connsiteX8" fmla="*/ 2285945 w 3790650"/>
              <a:gd name="connsiteY8" fmla="*/ 12701 h 1155691"/>
              <a:gd name="connsiteX9" fmla="*/ 1142973 w 3790650"/>
              <a:gd name="connsiteY9" fmla="*/ 1155691 h 1155691"/>
              <a:gd name="connsiteX10" fmla="*/ 0 w 3790650"/>
              <a:gd name="connsiteY10" fmla="*/ 12701 h 1155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0650" h="1155691">
                <a:moveTo>
                  <a:pt x="2293575" y="0"/>
                </a:moveTo>
                <a:lnTo>
                  <a:pt x="3790650" y="0"/>
                </a:lnTo>
                <a:lnTo>
                  <a:pt x="3790650" y="1098632"/>
                </a:lnTo>
                <a:lnTo>
                  <a:pt x="3775153" y="1104304"/>
                </a:lnTo>
                <a:cubicBezTo>
                  <a:pt x="3667783" y="1137700"/>
                  <a:pt x="3553627" y="1155691"/>
                  <a:pt x="3435268" y="1155691"/>
                </a:cubicBezTo>
                <a:cubicBezTo>
                  <a:pt x="2804021" y="1155691"/>
                  <a:pt x="2292295" y="643957"/>
                  <a:pt x="2292295" y="12701"/>
                </a:cubicBezTo>
                <a:close/>
                <a:moveTo>
                  <a:pt x="1280" y="0"/>
                </a:moveTo>
                <a:lnTo>
                  <a:pt x="2284665" y="0"/>
                </a:lnTo>
                <a:lnTo>
                  <a:pt x="2285945" y="12701"/>
                </a:lnTo>
                <a:cubicBezTo>
                  <a:pt x="2285945" y="643957"/>
                  <a:pt x="1774219" y="1155691"/>
                  <a:pt x="1142973" y="1155691"/>
                </a:cubicBezTo>
                <a:cubicBezTo>
                  <a:pt x="511726" y="1155691"/>
                  <a:pt x="0" y="643957"/>
                  <a:pt x="0" y="12701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80C9A0C-95B8-C535-9B78-63FDB782BE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-3" y="5727700"/>
            <a:ext cx="12192003" cy="1130300"/>
          </a:xfrm>
          <a:custGeom>
            <a:avLst/>
            <a:gdLst>
              <a:gd name="connsiteX0" fmla="*/ 11823828 w 12192003"/>
              <a:gd name="connsiteY0" fmla="*/ 0 h 1130300"/>
              <a:gd name="connsiteX1" fmla="*/ 12163721 w 12192003"/>
              <a:gd name="connsiteY1" fmla="*/ 51387 h 1130300"/>
              <a:gd name="connsiteX2" fmla="*/ 12192003 w 12192003"/>
              <a:gd name="connsiteY2" fmla="*/ 61738 h 1130300"/>
              <a:gd name="connsiteX3" fmla="*/ 12192003 w 12192003"/>
              <a:gd name="connsiteY3" fmla="*/ 1130300 h 1130300"/>
              <a:gd name="connsiteX4" fmla="*/ 10681469 w 12192003"/>
              <a:gd name="connsiteY4" fmla="*/ 1130300 h 1130300"/>
              <a:gd name="connsiteX5" fmla="*/ 10686729 w 12192003"/>
              <a:gd name="connsiteY5" fmla="*/ 1026126 h 1130300"/>
              <a:gd name="connsiteX6" fmla="*/ 11823828 w 12192003"/>
              <a:gd name="connsiteY6" fmla="*/ 0 h 1130300"/>
              <a:gd name="connsiteX7" fmla="*/ 9531478 w 12192003"/>
              <a:gd name="connsiteY7" fmla="*/ 0 h 1130300"/>
              <a:gd name="connsiteX8" fmla="*/ 10668577 w 12192003"/>
              <a:gd name="connsiteY8" fmla="*/ 1026126 h 1130300"/>
              <a:gd name="connsiteX9" fmla="*/ 10673837 w 12192003"/>
              <a:gd name="connsiteY9" fmla="*/ 1130300 h 1130300"/>
              <a:gd name="connsiteX10" fmla="*/ 8389119 w 12192003"/>
              <a:gd name="connsiteY10" fmla="*/ 1130300 h 1130300"/>
              <a:gd name="connsiteX11" fmla="*/ 8394379 w 12192003"/>
              <a:gd name="connsiteY11" fmla="*/ 1026126 h 1130300"/>
              <a:gd name="connsiteX12" fmla="*/ 9531478 w 12192003"/>
              <a:gd name="connsiteY12" fmla="*/ 0 h 1130300"/>
              <a:gd name="connsiteX13" fmla="*/ 7239129 w 12192003"/>
              <a:gd name="connsiteY13" fmla="*/ 0 h 1130300"/>
              <a:gd name="connsiteX14" fmla="*/ 8376227 w 12192003"/>
              <a:gd name="connsiteY14" fmla="*/ 1026126 h 1130300"/>
              <a:gd name="connsiteX15" fmla="*/ 8381487 w 12192003"/>
              <a:gd name="connsiteY15" fmla="*/ 1130300 h 1130300"/>
              <a:gd name="connsiteX16" fmla="*/ 6096769 w 12192003"/>
              <a:gd name="connsiteY16" fmla="*/ 1130300 h 1130300"/>
              <a:gd name="connsiteX17" fmla="*/ 6102029 w 12192003"/>
              <a:gd name="connsiteY17" fmla="*/ 1026126 h 1130300"/>
              <a:gd name="connsiteX18" fmla="*/ 7239129 w 12192003"/>
              <a:gd name="connsiteY18" fmla="*/ 0 h 1130300"/>
              <a:gd name="connsiteX19" fmla="*/ 4946780 w 12192003"/>
              <a:gd name="connsiteY19" fmla="*/ 0 h 1130300"/>
              <a:gd name="connsiteX20" fmla="*/ 6083878 w 12192003"/>
              <a:gd name="connsiteY20" fmla="*/ 1026126 h 1130300"/>
              <a:gd name="connsiteX21" fmla="*/ 6089139 w 12192003"/>
              <a:gd name="connsiteY21" fmla="*/ 1130300 h 1130300"/>
              <a:gd name="connsiteX22" fmla="*/ 3804423 w 12192003"/>
              <a:gd name="connsiteY22" fmla="*/ 1130300 h 1130300"/>
              <a:gd name="connsiteX23" fmla="*/ 3809684 w 12192003"/>
              <a:gd name="connsiteY23" fmla="*/ 1026126 h 1130300"/>
              <a:gd name="connsiteX24" fmla="*/ 4946780 w 12192003"/>
              <a:gd name="connsiteY24" fmla="*/ 0 h 1130300"/>
              <a:gd name="connsiteX25" fmla="*/ 2654431 w 12192003"/>
              <a:gd name="connsiteY25" fmla="*/ 0 h 1130300"/>
              <a:gd name="connsiteX26" fmla="*/ 3791530 w 12192003"/>
              <a:gd name="connsiteY26" fmla="*/ 1026126 h 1130300"/>
              <a:gd name="connsiteX27" fmla="*/ 3796791 w 12192003"/>
              <a:gd name="connsiteY27" fmla="*/ 1130300 h 1130300"/>
              <a:gd name="connsiteX28" fmla="*/ 1512072 w 12192003"/>
              <a:gd name="connsiteY28" fmla="*/ 1130300 h 1130300"/>
              <a:gd name="connsiteX29" fmla="*/ 1517332 w 12192003"/>
              <a:gd name="connsiteY29" fmla="*/ 1026126 h 1130300"/>
              <a:gd name="connsiteX30" fmla="*/ 2654431 w 12192003"/>
              <a:gd name="connsiteY30" fmla="*/ 0 h 1130300"/>
              <a:gd name="connsiteX31" fmla="*/ 362080 w 12192003"/>
              <a:gd name="connsiteY31" fmla="*/ 0 h 1130300"/>
              <a:gd name="connsiteX32" fmla="*/ 1499179 w 12192003"/>
              <a:gd name="connsiteY32" fmla="*/ 1026126 h 1130300"/>
              <a:gd name="connsiteX33" fmla="*/ 1504439 w 12192003"/>
              <a:gd name="connsiteY33" fmla="*/ 1130300 h 1130300"/>
              <a:gd name="connsiteX34" fmla="*/ 0 w 12192003"/>
              <a:gd name="connsiteY34" fmla="*/ 1130300 h 1130300"/>
              <a:gd name="connsiteX35" fmla="*/ 0 w 12192003"/>
              <a:gd name="connsiteY35" fmla="*/ 59507 h 1130300"/>
              <a:gd name="connsiteX36" fmla="*/ 22187 w 12192003"/>
              <a:gd name="connsiteY36" fmla="*/ 51387 h 1130300"/>
              <a:gd name="connsiteX37" fmla="*/ 362080 w 12192003"/>
              <a:gd name="connsiteY37" fmla="*/ 0 h 113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2192003" h="1130300">
                <a:moveTo>
                  <a:pt x="11823828" y="0"/>
                </a:moveTo>
                <a:cubicBezTo>
                  <a:pt x="11942189" y="0"/>
                  <a:pt x="12056349" y="17991"/>
                  <a:pt x="12163721" y="51387"/>
                </a:cubicBezTo>
                <a:lnTo>
                  <a:pt x="12192003" y="61738"/>
                </a:lnTo>
                <a:lnTo>
                  <a:pt x="12192003" y="1130300"/>
                </a:lnTo>
                <a:lnTo>
                  <a:pt x="10681469" y="1130300"/>
                </a:lnTo>
                <a:lnTo>
                  <a:pt x="10686729" y="1026126"/>
                </a:lnTo>
                <a:cubicBezTo>
                  <a:pt x="10745262" y="449767"/>
                  <a:pt x="11232021" y="0"/>
                  <a:pt x="11823828" y="0"/>
                </a:cubicBezTo>
                <a:close/>
                <a:moveTo>
                  <a:pt x="9531478" y="0"/>
                </a:moveTo>
                <a:cubicBezTo>
                  <a:pt x="10123285" y="0"/>
                  <a:pt x="10610044" y="449767"/>
                  <a:pt x="10668577" y="1026126"/>
                </a:cubicBezTo>
                <a:lnTo>
                  <a:pt x="10673837" y="1130300"/>
                </a:lnTo>
                <a:lnTo>
                  <a:pt x="8389119" y="1130300"/>
                </a:lnTo>
                <a:lnTo>
                  <a:pt x="8394379" y="1026126"/>
                </a:lnTo>
                <a:cubicBezTo>
                  <a:pt x="8452912" y="449767"/>
                  <a:pt x="8939671" y="0"/>
                  <a:pt x="9531478" y="0"/>
                </a:cubicBezTo>
                <a:close/>
                <a:moveTo>
                  <a:pt x="7239129" y="0"/>
                </a:moveTo>
                <a:cubicBezTo>
                  <a:pt x="7830936" y="0"/>
                  <a:pt x="8317694" y="449767"/>
                  <a:pt x="8376227" y="1026126"/>
                </a:cubicBezTo>
                <a:lnTo>
                  <a:pt x="8381487" y="1130300"/>
                </a:lnTo>
                <a:lnTo>
                  <a:pt x="6096769" y="1130300"/>
                </a:lnTo>
                <a:lnTo>
                  <a:pt x="6102029" y="1026126"/>
                </a:lnTo>
                <a:cubicBezTo>
                  <a:pt x="6160563" y="449767"/>
                  <a:pt x="6647322" y="0"/>
                  <a:pt x="7239129" y="0"/>
                </a:cubicBezTo>
                <a:close/>
                <a:moveTo>
                  <a:pt x="4946780" y="0"/>
                </a:moveTo>
                <a:cubicBezTo>
                  <a:pt x="5538587" y="0"/>
                  <a:pt x="6025345" y="449767"/>
                  <a:pt x="6083878" y="1026126"/>
                </a:cubicBezTo>
                <a:lnTo>
                  <a:pt x="6089139" y="1130300"/>
                </a:lnTo>
                <a:lnTo>
                  <a:pt x="3804423" y="1130300"/>
                </a:lnTo>
                <a:lnTo>
                  <a:pt x="3809684" y="1026126"/>
                </a:lnTo>
                <a:cubicBezTo>
                  <a:pt x="3868216" y="449767"/>
                  <a:pt x="4354972" y="0"/>
                  <a:pt x="4946780" y="0"/>
                </a:cubicBezTo>
                <a:close/>
                <a:moveTo>
                  <a:pt x="2654431" y="0"/>
                </a:moveTo>
                <a:cubicBezTo>
                  <a:pt x="3246238" y="0"/>
                  <a:pt x="3732997" y="449767"/>
                  <a:pt x="3791530" y="1026126"/>
                </a:cubicBezTo>
                <a:lnTo>
                  <a:pt x="3796791" y="1130300"/>
                </a:lnTo>
                <a:lnTo>
                  <a:pt x="1512072" y="1130300"/>
                </a:lnTo>
                <a:lnTo>
                  <a:pt x="1517332" y="1026126"/>
                </a:lnTo>
                <a:cubicBezTo>
                  <a:pt x="1575865" y="449767"/>
                  <a:pt x="2062624" y="0"/>
                  <a:pt x="2654431" y="0"/>
                </a:cubicBezTo>
                <a:close/>
                <a:moveTo>
                  <a:pt x="362080" y="0"/>
                </a:moveTo>
                <a:cubicBezTo>
                  <a:pt x="953887" y="0"/>
                  <a:pt x="1440646" y="449767"/>
                  <a:pt x="1499179" y="1026126"/>
                </a:cubicBezTo>
                <a:lnTo>
                  <a:pt x="1504439" y="1130300"/>
                </a:lnTo>
                <a:lnTo>
                  <a:pt x="0" y="1130300"/>
                </a:lnTo>
                <a:lnTo>
                  <a:pt x="0" y="59507"/>
                </a:lnTo>
                <a:lnTo>
                  <a:pt x="22187" y="51387"/>
                </a:lnTo>
                <a:cubicBezTo>
                  <a:pt x="129559" y="17991"/>
                  <a:pt x="243719" y="0"/>
                  <a:pt x="362080" y="0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70972619-C968-1257-58C9-0DC6616429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724189"/>
            <a:ext cx="1503729" cy="1133811"/>
          </a:xfrm>
          <a:custGeom>
            <a:avLst/>
            <a:gdLst>
              <a:gd name="connsiteX0" fmla="*/ 367995 w 1503729"/>
              <a:gd name="connsiteY0" fmla="*/ 19 h 1133811"/>
              <a:gd name="connsiteX1" fmla="*/ 1481576 w 1503729"/>
              <a:gd name="connsiteY1" fmla="*/ 913359 h 1133811"/>
              <a:gd name="connsiteX2" fmla="*/ 1503729 w 1503729"/>
              <a:gd name="connsiteY2" fmla="*/ 1133811 h 1133811"/>
              <a:gd name="connsiteX3" fmla="*/ 1371482 w 1503729"/>
              <a:gd name="connsiteY3" fmla="*/ 1133811 h 1133811"/>
              <a:gd name="connsiteX4" fmla="*/ 1275407 w 1503729"/>
              <a:gd name="connsiteY4" fmla="*/ 1118667 h 1133811"/>
              <a:gd name="connsiteX5" fmla="*/ 367995 w 1503729"/>
              <a:gd name="connsiteY5" fmla="*/ 19 h 1133811"/>
              <a:gd name="connsiteX6" fmla="*/ 367996 w 1503729"/>
              <a:gd name="connsiteY6" fmla="*/ 0 h 1133811"/>
              <a:gd name="connsiteX7" fmla="*/ 33218 w 1503729"/>
              <a:gd name="connsiteY7" fmla="*/ 808204 h 1133811"/>
              <a:gd name="connsiteX8" fmla="*/ 0 w 1503729"/>
              <a:gd name="connsiteY8" fmla="*/ 838393 h 1133811"/>
              <a:gd name="connsiteX9" fmla="*/ 0 w 1503729"/>
              <a:gd name="connsiteY9" fmla="*/ 61671 h 1133811"/>
              <a:gd name="connsiteX10" fmla="*/ 28102 w 1503729"/>
              <a:gd name="connsiteY10" fmla="*/ 51386 h 1133811"/>
              <a:gd name="connsiteX11" fmla="*/ 367996 w 1503729"/>
              <a:gd name="connsiteY11" fmla="*/ 0 h 1133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03729" h="1133811">
                <a:moveTo>
                  <a:pt x="367995" y="19"/>
                </a:moveTo>
                <a:cubicBezTo>
                  <a:pt x="917788" y="3008"/>
                  <a:pt x="1375686" y="394157"/>
                  <a:pt x="1481576" y="913359"/>
                </a:cubicBezTo>
                <a:lnTo>
                  <a:pt x="1503729" y="1133811"/>
                </a:lnTo>
                <a:lnTo>
                  <a:pt x="1371482" y="1133811"/>
                </a:lnTo>
                <a:lnTo>
                  <a:pt x="1275407" y="1118667"/>
                </a:lnTo>
                <a:cubicBezTo>
                  <a:pt x="757177" y="1010082"/>
                  <a:pt x="368000" y="550498"/>
                  <a:pt x="367995" y="19"/>
                </a:cubicBezTo>
                <a:close/>
                <a:moveTo>
                  <a:pt x="367996" y="0"/>
                </a:moveTo>
                <a:cubicBezTo>
                  <a:pt x="367996" y="315623"/>
                  <a:pt x="240061" y="601366"/>
                  <a:pt x="33218" y="808204"/>
                </a:cubicBezTo>
                <a:lnTo>
                  <a:pt x="0" y="838393"/>
                </a:lnTo>
                <a:lnTo>
                  <a:pt x="0" y="61671"/>
                </a:lnTo>
                <a:lnTo>
                  <a:pt x="28102" y="51386"/>
                </a:lnTo>
                <a:cubicBezTo>
                  <a:pt x="135475" y="17991"/>
                  <a:pt x="249634" y="0"/>
                  <a:pt x="367996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0A4A3873-48BC-94DF-6006-FC7F81660A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01353" y="0"/>
            <a:ext cx="3790647" cy="1143002"/>
          </a:xfrm>
          <a:custGeom>
            <a:avLst/>
            <a:gdLst>
              <a:gd name="connsiteX0" fmla="*/ 3790647 w 3790647"/>
              <a:gd name="connsiteY0" fmla="*/ 304585 h 1143002"/>
              <a:gd name="connsiteX1" fmla="*/ 3790647 w 3790647"/>
              <a:gd name="connsiteY1" fmla="*/ 1081329 h 1143002"/>
              <a:gd name="connsiteX2" fmla="*/ 3762543 w 3790647"/>
              <a:gd name="connsiteY2" fmla="*/ 1091615 h 1143002"/>
              <a:gd name="connsiteX3" fmla="*/ 3422649 w 3790647"/>
              <a:gd name="connsiteY3" fmla="*/ 1143002 h 1143002"/>
              <a:gd name="connsiteX4" fmla="*/ 3757427 w 3790647"/>
              <a:gd name="connsiteY4" fmla="*/ 334777 h 1143002"/>
              <a:gd name="connsiteX5" fmla="*/ 2285997 w 3790647"/>
              <a:gd name="connsiteY5" fmla="*/ 17 h 1143002"/>
              <a:gd name="connsiteX6" fmla="*/ 3422650 w 3790647"/>
              <a:gd name="connsiteY6" fmla="*/ 1142983 h 1143002"/>
              <a:gd name="connsiteX7" fmla="*/ 2285997 w 3790647"/>
              <a:gd name="connsiteY7" fmla="*/ 17 h 1143002"/>
              <a:gd name="connsiteX8" fmla="*/ 0 w 3790647"/>
              <a:gd name="connsiteY8" fmla="*/ 17 h 1143002"/>
              <a:gd name="connsiteX9" fmla="*/ 1136650 w 3790647"/>
              <a:gd name="connsiteY9" fmla="*/ 1142983 h 1143002"/>
              <a:gd name="connsiteX10" fmla="*/ 0 w 3790647"/>
              <a:gd name="connsiteY10" fmla="*/ 17 h 1143002"/>
              <a:gd name="connsiteX11" fmla="*/ 2279650 w 3790647"/>
              <a:gd name="connsiteY11" fmla="*/ 0 h 1143002"/>
              <a:gd name="connsiteX12" fmla="*/ 1136650 w 3790647"/>
              <a:gd name="connsiteY12" fmla="*/ 1143002 h 1143002"/>
              <a:gd name="connsiteX13" fmla="*/ 2279650 w 3790647"/>
              <a:gd name="connsiteY13" fmla="*/ 0 h 114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90647" h="1143002">
                <a:moveTo>
                  <a:pt x="3790647" y="304585"/>
                </a:moveTo>
                <a:lnTo>
                  <a:pt x="3790647" y="1081329"/>
                </a:lnTo>
                <a:lnTo>
                  <a:pt x="3762543" y="1091615"/>
                </a:lnTo>
                <a:cubicBezTo>
                  <a:pt x="3655170" y="1125011"/>
                  <a:pt x="3541011" y="1143002"/>
                  <a:pt x="3422649" y="1143002"/>
                </a:cubicBezTo>
                <a:cubicBezTo>
                  <a:pt x="3422649" y="827371"/>
                  <a:pt x="3550584" y="541620"/>
                  <a:pt x="3757427" y="334777"/>
                </a:cubicBezTo>
                <a:close/>
                <a:moveTo>
                  <a:pt x="2285997" y="17"/>
                </a:moveTo>
                <a:cubicBezTo>
                  <a:pt x="2914332" y="3435"/>
                  <a:pt x="3422644" y="513848"/>
                  <a:pt x="3422650" y="1142983"/>
                </a:cubicBezTo>
                <a:cubicBezTo>
                  <a:pt x="2794315" y="1139567"/>
                  <a:pt x="2286006" y="629153"/>
                  <a:pt x="2285997" y="17"/>
                </a:cubicBezTo>
                <a:close/>
                <a:moveTo>
                  <a:pt x="0" y="17"/>
                </a:moveTo>
                <a:cubicBezTo>
                  <a:pt x="628334" y="3435"/>
                  <a:pt x="1136644" y="513848"/>
                  <a:pt x="1136650" y="1142983"/>
                </a:cubicBezTo>
                <a:cubicBezTo>
                  <a:pt x="508316" y="1139567"/>
                  <a:pt x="9" y="629153"/>
                  <a:pt x="0" y="17"/>
                </a:cubicBezTo>
                <a:close/>
                <a:moveTo>
                  <a:pt x="2279650" y="0"/>
                </a:moveTo>
                <a:cubicBezTo>
                  <a:pt x="2279650" y="631263"/>
                  <a:pt x="1767910" y="1143002"/>
                  <a:pt x="1136650" y="1143002"/>
                </a:cubicBezTo>
                <a:cubicBezTo>
                  <a:pt x="1136650" y="511739"/>
                  <a:pt x="1648390" y="0"/>
                  <a:pt x="2279650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20" name="Graphic 119">
            <a:extLst>
              <a:ext uri="{FF2B5EF4-FFF2-40B4-BE49-F238E27FC236}">
                <a16:creationId xmlns:a16="http://schemas.microsoft.com/office/drawing/2014/main" id="{9C01A786-0C1A-6C4A-1466-1AE233D142AE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8908" b="83148"/>
          <a:stretch/>
        </p:blipFill>
        <p:spPr>
          <a:xfrm>
            <a:off x="8401354" y="12700"/>
            <a:ext cx="3790646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971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 b="1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AutoNum type="arabicPeriod"/>
              <a:defRPr sz="2000"/>
            </a:lvl1pPr>
            <a:lvl2pPr marL="914400" indent="-457200">
              <a:buSzPct val="100000"/>
              <a:buFont typeface="+mj-lt"/>
              <a:buAutoNum type="alphaLcPeriod"/>
              <a:defRPr sz="2000"/>
            </a:lvl2pPr>
            <a:lvl3pPr marL="1371600" indent="-457200">
              <a:buSzPct val="100000"/>
              <a:buFont typeface="+mj-lt"/>
              <a:buAutoNum type="romanLcPeriod"/>
              <a:defRPr sz="1800"/>
            </a:lvl3pPr>
            <a:lvl4pPr marL="1828800" indent="-457200">
              <a:buSzPct val="100000"/>
              <a:buFont typeface="+mj-lt"/>
              <a:buAutoNum type="arabicParenR"/>
              <a:defRPr sz="1800"/>
            </a:lvl4pPr>
            <a:lvl5pPr marL="2286000" indent="-457200">
              <a:buSzPct val="100000"/>
              <a:buFont typeface="+mj-lt"/>
              <a:buAutoNum type="alphaLcParenR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607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3" name="Title 123">
            <a:extLst>
              <a:ext uri="{FF2B5EF4-FFF2-40B4-BE49-F238E27FC236}">
                <a16:creationId xmlns:a16="http://schemas.microsoft.com/office/drawing/2014/main" id="{0B9C7C4B-FC2C-5D51-5679-3D5ED851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3" y="832104"/>
            <a:ext cx="10479088" cy="2587625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79F5B69-7199-E3E6-5554-6CC2207D48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375" y="3705309"/>
            <a:ext cx="10479088" cy="2587625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b="1" i="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0931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11329200" cy="503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65893"/>
            <a:ext cx="4114800" cy="22671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F7E44-8ABB-4ABE-998C-AFEFE7AA0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r">
              <a:defRPr lang="en-ZA" sz="1000" b="0" smtClean="0">
                <a:solidFill>
                  <a:sysClr val="windowText" lastClr="000000"/>
                </a:solidFill>
              </a:defRPr>
            </a:lvl1pPr>
          </a:lstStyle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ZA" sz="3200" b="1" kern="1200" spc="-150" dirty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0"/>
        </a:spcBef>
        <a:spcAft>
          <a:spcPts val="1800"/>
        </a:spcAft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esnacari27-collab/Capstone_2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F917E-922A-1054-6306-D37C378F1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903" y="5308145"/>
            <a:ext cx="10479024" cy="557784"/>
          </a:xfrm>
        </p:spPr>
        <p:txBody>
          <a:bodyPr/>
          <a:lstStyle/>
          <a:p>
            <a:r>
              <a:rPr lang="en-US" dirty="0"/>
              <a:t>Data analyst </a:t>
            </a:r>
            <a:r>
              <a:rPr lang="en-US" dirty="0" err="1"/>
              <a:t>vesna</a:t>
            </a:r>
            <a:r>
              <a:rPr lang="en-US" dirty="0"/>
              <a:t> </a:t>
            </a:r>
            <a:r>
              <a:rPr lang="en-US" dirty="0" err="1"/>
              <a:t>cari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D50B0-02F8-A1E6-8A67-C0B7034A47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282" y="1536192"/>
            <a:ext cx="10952180" cy="4480560"/>
          </a:xfrm>
        </p:spPr>
        <p:txBody>
          <a:bodyPr vert="horz" lIns="0" tIns="0" rIns="0" bIns="0" rtlCol="0" anchor="t">
            <a:noAutofit/>
          </a:bodyPr>
          <a:lstStyle/>
          <a:p>
            <a:endParaRPr lang="en-US" sz="1800">
              <a:solidFill>
                <a:srgbClr val="CADCFC"/>
              </a:solidFill>
              <a:latin typeface="Calibri"/>
              <a:ea typeface="Calibri"/>
              <a:cs typeface="Calibri"/>
            </a:endParaRPr>
          </a:p>
          <a:p>
            <a:r>
              <a:rPr lang="en-US" dirty="0"/>
              <a:t>EmporiUm Bookstore Sales Analysis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999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EA6BC-F3A8-6DDC-F1F8-6348F54E8B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91" name="Title 690">
            <a:extLst>
              <a:ext uri="{FF2B5EF4-FFF2-40B4-BE49-F238E27FC236}">
                <a16:creationId xmlns:a16="http://schemas.microsoft.com/office/drawing/2014/main" id="{A712FB7D-01E6-470A-F67E-5C7083595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1763" y="381421"/>
            <a:ext cx="6419404" cy="557784"/>
          </a:xfrm>
        </p:spPr>
        <p:txBody>
          <a:bodyPr/>
          <a:lstStyle/>
          <a:p>
            <a:r>
              <a:rPr lang="en-US" sz="2800">
                <a:solidFill>
                  <a:schemeClr val="accent6">
                    <a:lumMod val="49000"/>
                  </a:schemeClr>
                </a:solidFill>
              </a:rPr>
              <a:t>Territory overview</a:t>
            </a:r>
          </a:p>
        </p:txBody>
      </p:sp>
      <p:sp>
        <p:nvSpPr>
          <p:cNvPr id="717" name="Rectangle 716">
            <a:extLst>
              <a:ext uri="{FF2B5EF4-FFF2-40B4-BE49-F238E27FC236}">
                <a16:creationId xmlns:a16="http://schemas.microsoft.com/office/drawing/2014/main" id="{B5C31541-F452-4316-BD01-1A7D0EB84F5B}"/>
              </a:ext>
            </a:extLst>
          </p:cNvPr>
          <p:cNvSpPr/>
          <p:nvPr/>
        </p:nvSpPr>
        <p:spPr>
          <a:xfrm>
            <a:off x="830319" y="1053664"/>
            <a:ext cx="5263053" cy="475067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b="1" u="sng" dirty="0">
                <a:solidFill>
                  <a:schemeClr val="accent6">
                    <a:lumMod val="49000"/>
                  </a:schemeClr>
                </a:solidFill>
              </a:rPr>
              <a:t>Territory 1: South</a:t>
            </a:r>
            <a:r>
              <a:rPr lang="en-US" sz="2400" b="1" u="sng">
                <a:solidFill>
                  <a:schemeClr val="accent6">
                    <a:lumMod val="49000"/>
                  </a:schemeClr>
                </a:solidFill>
              </a:rPr>
              <a:t> Carolina </a:t>
            </a:r>
            <a:endParaRPr lang="en-US" sz="2400" dirty="0">
              <a:solidFill>
                <a:schemeClr val="accent6">
                  <a:lumMod val="49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accent6">
                    <a:lumMod val="49000"/>
                  </a:schemeClr>
                </a:solidFill>
              </a:rPr>
              <a:t>Territory Manager: Len Jensen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accent6">
                    <a:lumMod val="49000"/>
                  </a:schemeClr>
                </a:solidFill>
              </a:rPr>
              <a:t>Region: South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accent6">
                    <a:lumMod val="49000"/>
                  </a:schemeClr>
                </a:solidFill>
              </a:rPr>
              <a:t>Region Director: Andy </a:t>
            </a:r>
            <a:r>
              <a:rPr lang="en-US" sz="2000" dirty="0" err="1">
                <a:solidFill>
                  <a:schemeClr val="accent6">
                    <a:lumMod val="49000"/>
                  </a:schemeClr>
                </a:solidFill>
              </a:rPr>
              <a:t>Gisselquist</a:t>
            </a:r>
            <a:endParaRPr lang="en-US" sz="2000">
              <a:solidFill>
                <a:schemeClr val="accent6">
                  <a:lumMod val="49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accent6">
                    <a:lumMod val="49000"/>
                  </a:schemeClr>
                </a:solidFill>
              </a:rPr>
              <a:t>Total Stores: 2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accent6">
                    <a:lumMod val="49000"/>
                  </a:schemeClr>
                </a:solidFill>
              </a:rPr>
              <a:t>Stores: </a:t>
            </a:r>
          </a:p>
          <a:p>
            <a:pPr marL="1200150" lvl="2" indent="-285750">
              <a:buFont typeface="Wingdings" panose="020B0604020202020204" pitchFamily="34" charset="0"/>
              <a:buChar char="§"/>
            </a:pPr>
            <a:r>
              <a:rPr lang="en-US" sz="2000">
                <a:solidFill>
                  <a:schemeClr val="accent6">
                    <a:lumMod val="49000"/>
                  </a:schemeClr>
                </a:solidFill>
              </a:rPr>
              <a:t>Store 852—Charleston </a:t>
            </a:r>
          </a:p>
          <a:p>
            <a:pPr marL="1200150" lvl="2" indent="-285750">
              <a:buFont typeface="Wingdings" panose="020B0604020202020204" pitchFamily="34" charset="0"/>
              <a:buChar char="§"/>
            </a:pPr>
            <a:r>
              <a:rPr lang="en-US" sz="2000">
                <a:solidFill>
                  <a:schemeClr val="accent6">
                    <a:lumMod val="49000"/>
                  </a:schemeClr>
                </a:solidFill>
              </a:rPr>
              <a:t>Store 853—Greenville</a:t>
            </a:r>
            <a:r>
              <a:rPr lang="en-US" sz="2400" dirty="0">
                <a:solidFill>
                  <a:schemeClr val="accent6">
                    <a:lumMod val="49000"/>
                  </a:schemeClr>
                </a:solidFill>
              </a:rPr>
              <a:t> </a:t>
            </a:r>
          </a:p>
          <a:p>
            <a:pPr marL="1200150" lvl="2" indent="-285750">
              <a:buFont typeface="Wingdings" panose="020B0604020202020204" pitchFamily="34" charset="0"/>
              <a:buChar char="§"/>
            </a:pPr>
            <a:endParaRPr lang="en-US" sz="2400" dirty="0">
              <a:solidFill>
                <a:schemeClr val="accent6">
                  <a:lumMod val="49000"/>
                </a:schemeClr>
              </a:solidFill>
            </a:endParaRPr>
          </a:p>
          <a:p>
            <a:pPr marL="1200150" lvl="2" indent="-285750">
              <a:buFont typeface="Wingdings" panose="020B0604020202020204" pitchFamily="34" charset="0"/>
              <a:buChar char="§"/>
            </a:pPr>
            <a:endParaRPr lang="en-US" sz="2400" dirty="0">
              <a:solidFill>
                <a:schemeClr val="accent6">
                  <a:lumMod val="49000"/>
                </a:schemeClr>
              </a:solidFill>
            </a:endParaRPr>
          </a:p>
          <a:p>
            <a:pPr marL="1200150" lvl="2" indent="-285750">
              <a:buFont typeface="Wingdings" panose="020B0604020202020204" pitchFamily="34" charset="0"/>
              <a:buChar char="§"/>
            </a:pPr>
            <a:endParaRPr lang="en-US" sz="2400" dirty="0">
              <a:solidFill>
                <a:schemeClr val="accent6">
                  <a:lumMod val="49000"/>
                </a:schemeClr>
              </a:solidFill>
            </a:endParaRPr>
          </a:p>
          <a:p>
            <a:pPr lvl="2"/>
            <a:endParaRPr lang="en-US" sz="2400" dirty="0">
              <a:solidFill>
                <a:schemeClr val="accent6">
                  <a:lumMod val="49000"/>
                </a:schemeClr>
              </a:solidFill>
            </a:endParaRPr>
          </a:p>
        </p:txBody>
      </p:sp>
      <p:sp>
        <p:nvSpPr>
          <p:cNvPr id="718" name="Rectangle 717">
            <a:extLst>
              <a:ext uri="{FF2B5EF4-FFF2-40B4-BE49-F238E27FC236}">
                <a16:creationId xmlns:a16="http://schemas.microsoft.com/office/drawing/2014/main" id="{7704EB69-10C5-36B0-0D0A-B97404C48BA6}"/>
              </a:ext>
            </a:extLst>
          </p:cNvPr>
          <p:cNvSpPr/>
          <p:nvPr/>
        </p:nvSpPr>
        <p:spPr>
          <a:xfrm>
            <a:off x="6269422" y="1053664"/>
            <a:ext cx="5263053" cy="475067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b="1" u="sng">
                <a:solidFill>
                  <a:schemeClr val="accent6">
                    <a:lumMod val="49000"/>
                  </a:schemeClr>
                </a:solidFill>
              </a:rPr>
              <a:t>Territory 2: New</a:t>
            </a:r>
            <a:r>
              <a:rPr lang="en-US" sz="2400" b="1" u="sng" dirty="0">
                <a:solidFill>
                  <a:schemeClr val="accent6">
                    <a:lumMod val="49000"/>
                  </a:schemeClr>
                </a:solidFill>
              </a:rPr>
              <a:t> York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accent6">
                    <a:lumMod val="49000"/>
                  </a:schemeClr>
                </a:solidFill>
              </a:rPr>
              <a:t>Territory Manager: See Ellefson 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accent6">
                    <a:lumMod val="49000"/>
                  </a:schemeClr>
                </a:solidFill>
              </a:rPr>
              <a:t>Region: East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accent6">
                    <a:lumMod val="49000"/>
                  </a:schemeClr>
                </a:solidFill>
              </a:rPr>
              <a:t>Region Director: Ana Jilani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accent6">
                    <a:lumMod val="49000"/>
                  </a:schemeClr>
                </a:solidFill>
              </a:rPr>
              <a:t>Total Stores: 12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accent6">
                    <a:lumMod val="49000"/>
                  </a:schemeClr>
                </a:solidFill>
              </a:rPr>
              <a:t>Stores: </a:t>
            </a:r>
          </a:p>
          <a:p>
            <a:pPr marL="1200150" lvl="2" indent="-285750">
              <a:buFont typeface="Wingdings" panose="020B0604020202020204" pitchFamily="34" charset="0"/>
              <a:buChar char="§"/>
            </a:pPr>
            <a:r>
              <a:rPr lang="en-US" sz="2000">
                <a:solidFill>
                  <a:schemeClr val="accent6">
                    <a:lumMod val="49000"/>
                  </a:schemeClr>
                </a:solidFill>
              </a:rPr>
              <a:t>Store 840—Albany</a:t>
            </a:r>
          </a:p>
          <a:p>
            <a:pPr marL="1200150" lvl="2" indent="-285750">
              <a:buFont typeface="Wingdings" panose="020B0604020202020204" pitchFamily="34" charset="0"/>
              <a:buChar char="§"/>
            </a:pPr>
            <a:r>
              <a:rPr lang="en-US" sz="2000">
                <a:solidFill>
                  <a:schemeClr val="accent6">
                    <a:lumMod val="49000"/>
                  </a:schemeClr>
                </a:solidFill>
              </a:rPr>
              <a:t>Store 841—Buffalo</a:t>
            </a:r>
          </a:p>
          <a:p>
            <a:pPr marL="1200150" lvl="2" indent="-285750">
              <a:buFont typeface="Wingdings" panose="020B0604020202020204" pitchFamily="34" charset="0"/>
              <a:buChar char="§"/>
            </a:pPr>
            <a:r>
              <a:rPr lang="en-US" sz="2000">
                <a:solidFill>
                  <a:schemeClr val="accent6">
                    <a:lumMod val="49000"/>
                  </a:schemeClr>
                </a:solidFill>
              </a:rPr>
              <a:t>Store 947—Rochester</a:t>
            </a:r>
          </a:p>
          <a:p>
            <a:pPr marL="1200150" lvl="2" indent="-285750">
              <a:buFont typeface="Wingdings" panose="020B0604020202020204" pitchFamily="34" charset="0"/>
              <a:buChar char="§"/>
            </a:pPr>
            <a:r>
              <a:rPr lang="en-US" sz="2000">
                <a:solidFill>
                  <a:schemeClr val="accent6">
                    <a:lumMod val="49000"/>
                  </a:schemeClr>
                </a:solidFill>
              </a:rPr>
              <a:t>Store 849—Brooklyn </a:t>
            </a:r>
          </a:p>
          <a:p>
            <a:pPr marL="1200150" lvl="2" indent="-285750">
              <a:buFont typeface="Wingdings" panose="020B0604020202020204" pitchFamily="34" charset="0"/>
              <a:buChar char="§"/>
            </a:pPr>
            <a:r>
              <a:rPr lang="en-US" sz="2000">
                <a:solidFill>
                  <a:schemeClr val="accent6">
                    <a:lumMod val="49000"/>
                  </a:schemeClr>
                </a:solidFill>
              </a:rPr>
              <a:t>Store 850—New York City</a:t>
            </a:r>
          </a:p>
          <a:p>
            <a:pPr marL="1200150" lvl="2" indent="-285750">
              <a:buFont typeface="Wingdings" panose="020B0604020202020204" pitchFamily="34" charset="0"/>
              <a:buChar char="§"/>
            </a:pPr>
            <a:r>
              <a:rPr lang="en-US" sz="2000">
                <a:solidFill>
                  <a:schemeClr val="accent6">
                    <a:lumMod val="49000"/>
                  </a:schemeClr>
                </a:solidFill>
              </a:rPr>
              <a:t>+7 more </a:t>
            </a:r>
          </a:p>
          <a:p>
            <a:pPr lvl="2"/>
            <a:endParaRPr lang="en-US" sz="2000" dirty="0">
              <a:solidFill>
                <a:schemeClr val="accent6">
                  <a:lumMod val="49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2634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34DAF-F207-3061-24D6-6AFF55241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003" y="223022"/>
            <a:ext cx="10479024" cy="557784"/>
          </a:xfrm>
        </p:spPr>
        <p:txBody>
          <a:bodyPr/>
          <a:lstStyle/>
          <a:p>
            <a:r>
              <a:rPr lang="en-US" sz="28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Monthly Revenue Trends</a:t>
            </a:r>
            <a:endParaRPr lang="en-US"/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782D0B-B917-EB14-0DE7-407DF8EB658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1852" y="602300"/>
            <a:ext cx="6556375" cy="353624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kern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48-month period: January 2022 – December 2025</a:t>
            </a:r>
            <a:endParaRPr lang="en-US" sz="1800"/>
          </a:p>
        </p:txBody>
      </p:sp>
      <p:pic>
        <p:nvPicPr>
          <p:cNvPr id="7" name="Picture 6" descr="A blue rectangle with black border&#10;&#10;AI-generated content may be incorrect.">
            <a:extLst>
              <a:ext uri="{FF2B5EF4-FFF2-40B4-BE49-F238E27FC236}">
                <a16:creationId xmlns:a16="http://schemas.microsoft.com/office/drawing/2014/main" id="{C346CDEF-A07E-B351-0574-A4DB19ACC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974" y="1062397"/>
            <a:ext cx="3714930" cy="19871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1D8D890-152B-77C2-D8A3-054D32F123C6}"/>
              </a:ext>
            </a:extLst>
          </p:cNvPr>
          <p:cNvSpPr txBox="1"/>
          <p:nvPr/>
        </p:nvSpPr>
        <p:spPr>
          <a:xfrm>
            <a:off x="201283" y="1387415"/>
            <a:ext cx="207034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b="1" kern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 Total Revenue</a:t>
            </a:r>
          </a:p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7A3AAB-0A51-E2CE-6C69-0D8331FE5C46}"/>
              </a:ext>
            </a:extLst>
          </p:cNvPr>
          <p:cNvSpPr txBox="1"/>
          <p:nvPr/>
        </p:nvSpPr>
        <p:spPr>
          <a:xfrm>
            <a:off x="388189" y="1890623"/>
            <a:ext cx="2012831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sz="2600" b="1" kern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$13,517</a:t>
            </a:r>
          </a:p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087DCB-4234-C783-248D-8BF3D66A208F}"/>
              </a:ext>
            </a:extLst>
          </p:cNvPr>
          <p:cNvSpPr txBox="1"/>
          <p:nvPr/>
        </p:nvSpPr>
        <p:spPr>
          <a:xfrm>
            <a:off x="201283" y="2551981"/>
            <a:ext cx="6096000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sz="1600" b="1" kern="1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2 stores · Best: Aug 2025</a:t>
            </a:r>
          </a:p>
          <a:p>
            <a:pPr algn="ctr"/>
            <a:endParaRPr lang="en-US"/>
          </a:p>
        </p:txBody>
      </p:sp>
      <p:pic>
        <p:nvPicPr>
          <p:cNvPr id="11" name="Picture 10" descr="A blue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D7B10066-F9DA-5911-0672-C7163A3D7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1694" y="1062398"/>
            <a:ext cx="3892310" cy="19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FD85CF1-8387-7893-4D56-898541CB5B40}"/>
              </a:ext>
            </a:extLst>
          </p:cNvPr>
          <p:cNvSpPr txBox="1"/>
          <p:nvPr/>
        </p:nvSpPr>
        <p:spPr>
          <a:xfrm>
            <a:off x="4226943" y="138741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Calibri"/>
              </a:rPr>
              <a:t>NY Total</a:t>
            </a:r>
            <a:r>
              <a:rPr lang="en-US" sz="1800" b="1" i="0" u="none" strike="noStrike" baseline="0" dirty="0">
                <a:solidFill>
                  <a:srgbClr val="FFFFFF"/>
                </a:solidFill>
                <a:latin typeface="Calibri"/>
              </a:rPr>
              <a:t> Revenue</a:t>
            </a:r>
            <a:r>
              <a:rPr sz="1800" b="0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  <a:endParaRPr lang="en-US" dirty="0"/>
          </a:p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C3FAAC-7D9B-0EAD-9704-5B3A486C78E5}"/>
              </a:ext>
            </a:extLst>
          </p:cNvPr>
          <p:cNvSpPr txBox="1"/>
          <p:nvPr/>
        </p:nvSpPr>
        <p:spPr>
          <a:xfrm>
            <a:off x="4413849" y="1890623"/>
            <a:ext cx="609600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600" b="1" i="0" u="none" strike="noStrike" baseline="0">
                <a:solidFill>
                  <a:srgbClr val="FFFFFF"/>
                </a:solidFill>
                <a:latin typeface="Calibri"/>
              </a:rPr>
              <a:t>$</a:t>
            </a:r>
            <a:r>
              <a:rPr lang="en-US" sz="2600" b="1">
                <a:solidFill>
                  <a:srgbClr val="FFFFFF"/>
                </a:solidFill>
                <a:latin typeface="Calibri"/>
              </a:rPr>
              <a:t>90,225 </a:t>
            </a:r>
            <a:endParaRPr lang="en-US" sz="2600">
              <a:latin typeface="Calibri"/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C153F7-CD73-A5D8-56F3-F8B50A0EBB56}"/>
              </a:ext>
            </a:extLst>
          </p:cNvPr>
          <p:cNvSpPr txBox="1"/>
          <p:nvPr/>
        </p:nvSpPr>
        <p:spPr>
          <a:xfrm>
            <a:off x="4226943" y="2551981"/>
            <a:ext cx="6096000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CADCFC"/>
                </a:solidFill>
                <a:latin typeface="Calibri"/>
              </a:rPr>
              <a:t>12</a:t>
            </a:r>
            <a:r>
              <a:rPr lang="en-US" sz="1600" b="1" i="0" u="none" strike="noStrike" baseline="0">
                <a:solidFill>
                  <a:srgbClr val="CADCFC"/>
                </a:solidFill>
                <a:latin typeface="Calibri"/>
              </a:rPr>
              <a:t> stores · </a:t>
            </a:r>
            <a:r>
              <a:rPr lang="en-US" sz="1600" b="1">
                <a:solidFill>
                  <a:srgbClr val="CADCFC"/>
                </a:solidFill>
                <a:latin typeface="Calibri"/>
              </a:rPr>
              <a:t>Best: Oct 2025</a:t>
            </a:r>
            <a:r>
              <a:rPr sz="1600" b="0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  <a:endParaRPr lang="en-US" dirty="0"/>
          </a:p>
          <a:p>
            <a:pPr algn="ctr"/>
            <a:endParaRPr lang="en-US"/>
          </a:p>
        </p:txBody>
      </p:sp>
      <p:pic>
        <p:nvPicPr>
          <p:cNvPr id="16" name="Picture 15" descr="A red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3329DF70-3673-C5B6-2D25-11B8FEB13A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2629" y="1048021"/>
            <a:ext cx="3801194" cy="198713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C6C35A8-CF71-6A8F-B70B-CAF778C0AAA4}"/>
              </a:ext>
            </a:extLst>
          </p:cNvPr>
          <p:cNvSpPr txBox="1"/>
          <p:nvPr/>
        </p:nvSpPr>
        <p:spPr>
          <a:xfrm>
            <a:off x="8497019" y="1387416"/>
            <a:ext cx="263105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Shared Worst Month</a:t>
            </a:r>
            <a:endParaRPr lang="en-US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C23BC2-3187-5BCF-17B2-DD317A6B17EF}"/>
              </a:ext>
            </a:extLst>
          </p:cNvPr>
          <p:cNvSpPr txBox="1"/>
          <p:nvPr/>
        </p:nvSpPr>
        <p:spPr>
          <a:xfrm>
            <a:off x="8712680" y="1890623"/>
            <a:ext cx="2415397" cy="7838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Calibri"/>
              </a:rPr>
              <a:t>May 2022 </a:t>
            </a:r>
            <a:r>
              <a:rPr lang="en-US" sz="2600" b="1" i="0" u="none" strike="noStrike" baseline="0">
                <a:solidFill>
                  <a:srgbClr val="FFFFFF"/>
                </a:solidFill>
                <a:latin typeface="Calibri"/>
              </a:rPr>
              <a:t> </a:t>
            </a:r>
            <a:r>
              <a:rPr sz="2600" b="0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  <a:endParaRPr lang="en-US" dirty="0"/>
          </a:p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5F2E8F-1E0E-EF5A-B93E-2BE23BF8EF36}"/>
              </a:ext>
            </a:extLst>
          </p:cNvPr>
          <p:cNvSpPr txBox="1"/>
          <p:nvPr/>
        </p:nvSpPr>
        <p:spPr>
          <a:xfrm>
            <a:off x="8468264" y="2537604"/>
            <a:ext cx="2875472" cy="6299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solidFill>
                  <a:srgbClr val="CADCFC"/>
                </a:solidFill>
                <a:latin typeface="Calibri"/>
              </a:rPr>
              <a:t>Both territo</a:t>
            </a:r>
            <a:r>
              <a:rPr lang="en-US" sz="1600" b="1">
                <a:solidFill>
                  <a:srgbClr val="CADCFC"/>
                </a:solidFill>
                <a:latin typeface="Calibri"/>
              </a:rPr>
              <a:t>ries declined</a:t>
            </a:r>
            <a:endParaRPr lang="en-US" sz="1600" b="1">
              <a:solidFill>
                <a:srgbClr val="CADCFC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/>
          </a:p>
        </p:txBody>
      </p:sp>
      <p:pic>
        <p:nvPicPr>
          <p:cNvPr id="22" name="Picture 21" descr="A graph with orange lines and blue lines&#10;&#10;AI-generated content may be incorrect.">
            <a:extLst>
              <a:ext uri="{FF2B5EF4-FFF2-40B4-BE49-F238E27FC236}">
                <a16:creationId xmlns:a16="http://schemas.microsoft.com/office/drawing/2014/main" id="{4F9032F3-CC47-95B2-1BE0-F57021B9A2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867" y="3032541"/>
            <a:ext cx="10509850" cy="368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475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5D67-56B9-4DBB-5270-4A51BFCDA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552" y="280531"/>
            <a:ext cx="6556248" cy="557784"/>
          </a:xfrm>
        </p:spPr>
        <p:txBody>
          <a:bodyPr/>
          <a:lstStyle/>
          <a:p>
            <a:r>
              <a:rPr lang="en-US" sz="28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Store Performance Rankings</a:t>
            </a:r>
            <a:endParaRPr lang="en-US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D930E-9FE8-F230-9BDF-13B152862E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0" name="Picture 9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360E8836-6A79-2B7F-B6FB-9E8A46370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10" y="1920994"/>
            <a:ext cx="5351972" cy="30303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A982ECC-510A-C5ED-BBE6-6EA0B4D337F2}"/>
              </a:ext>
            </a:extLst>
          </p:cNvPr>
          <p:cNvSpPr txBox="1"/>
          <p:nvPr/>
        </p:nvSpPr>
        <p:spPr>
          <a:xfrm>
            <a:off x="603848" y="1085491"/>
            <a:ext cx="3048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b="1" kern="120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South Carolina</a:t>
            </a:r>
          </a:p>
          <a:p>
            <a:pPr algn="ctr"/>
            <a:endParaRPr lang="en-US"/>
          </a:p>
        </p:txBody>
      </p:sp>
      <p:pic>
        <p:nvPicPr>
          <p:cNvPr id="12" name="Picture 11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E0D0B288-7238-3B40-FFDE-F1EA33820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799" y="1823049"/>
            <a:ext cx="4731949" cy="312563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E3B44FE-474C-3C63-1D18-1A8C183DFDC9}"/>
              </a:ext>
            </a:extLst>
          </p:cNvPr>
          <p:cNvSpPr txBox="1"/>
          <p:nvPr/>
        </p:nvSpPr>
        <p:spPr>
          <a:xfrm>
            <a:off x="7706264" y="1013604"/>
            <a:ext cx="173966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b="1" kern="12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New York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998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5AA3C-075D-E8DD-D48B-DA9E07CBE0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741514-3602-7890-570B-4CFFABF6B9DF}"/>
              </a:ext>
            </a:extLst>
          </p:cNvPr>
          <p:cNvSpPr txBox="1"/>
          <p:nvPr/>
        </p:nvSpPr>
        <p:spPr>
          <a:xfrm>
            <a:off x="3148641" y="179717"/>
            <a:ext cx="6096000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sz="2800" b="1" kern="12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Top Customers by Territory</a:t>
            </a:r>
          </a:p>
          <a:p>
            <a:pPr algn="ctr"/>
            <a:endParaRPr lang="en-US"/>
          </a:p>
        </p:txBody>
      </p:sp>
      <p:pic>
        <p:nvPicPr>
          <p:cNvPr id="2" name="Picture 1" descr="A screenshot of a list of popular music&#10;&#10;AI-generated content may be incorrect.">
            <a:extLst>
              <a:ext uri="{FF2B5EF4-FFF2-40B4-BE49-F238E27FC236}">
                <a16:creationId xmlns:a16="http://schemas.microsoft.com/office/drawing/2014/main" id="{25EBF4DB-FA92-DC8B-ABE8-18DD4B152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249" y="1123500"/>
            <a:ext cx="5205503" cy="3906509"/>
          </a:xfrm>
          <a:prstGeom prst="rect">
            <a:avLst/>
          </a:prstGeom>
        </p:spPr>
      </p:pic>
      <p:pic>
        <p:nvPicPr>
          <p:cNvPr id="5" name="Picture 4" descr="A screenshot of a screen&#10;&#10;AI-generated content may be incorrect.">
            <a:extLst>
              <a:ext uri="{FF2B5EF4-FFF2-40B4-BE49-F238E27FC236}">
                <a16:creationId xmlns:a16="http://schemas.microsoft.com/office/drawing/2014/main" id="{9748D06D-27C5-6BD9-DD9A-DABB90A79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035" y="1123500"/>
            <a:ext cx="5414155" cy="3906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281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603ED-5845-9B34-EF4D-77F260C55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2078" y="366796"/>
            <a:ext cx="6568383" cy="428388"/>
          </a:xfrm>
        </p:spPr>
        <p:txBody>
          <a:bodyPr/>
          <a:lstStyle/>
          <a:p>
            <a:r>
              <a:rPr lang="en-US" sz="28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Product Category Analysis</a:t>
            </a:r>
            <a:endParaRPr lang="en-US"/>
          </a:p>
          <a:p>
            <a:br>
              <a:rPr lang="en-US" dirty="0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333A90-2ED2-EF64-F9B3-7807A3275B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Picture 6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8221DBC1-EEBF-8AED-4FB5-D77C16C85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98" y="2010942"/>
            <a:ext cx="5556849" cy="33105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A92BBB-D62B-DDCA-910F-F1E35F885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1680" y="1608375"/>
            <a:ext cx="4035546" cy="371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225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A45C0-B640-DA19-15D3-C97A696C1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E50759-FDD7-80E7-61BB-398812AA5A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18B3DC-024C-03B4-B490-A4B37FECE2A1}"/>
              </a:ext>
            </a:extLst>
          </p:cNvPr>
          <p:cNvSpPr txBox="1"/>
          <p:nvPr/>
        </p:nvSpPr>
        <p:spPr>
          <a:xfrm>
            <a:off x="3522453" y="323490"/>
            <a:ext cx="5405887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Marketing </a:t>
            </a:r>
            <a:r>
              <a:rPr lang="en-US" sz="2800" b="1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Recommendations </a:t>
            </a:r>
            <a:endParaRPr lang="en-US" sz="2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/>
            <a:endParaRPr lang="en-US" sz="2800" b="1" dirty="0">
              <a:solidFill>
                <a:schemeClr val="accent6">
                  <a:lumMod val="49000"/>
                </a:schemeClr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D2C344-190C-1C02-AD41-5C57A5D8D8A1}"/>
              </a:ext>
            </a:extLst>
          </p:cNvPr>
          <p:cNvSpPr/>
          <p:nvPr/>
        </p:nvSpPr>
        <p:spPr>
          <a:xfrm>
            <a:off x="542772" y="1125549"/>
            <a:ext cx="3207091" cy="46212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 dirty="0">
                <a:solidFill>
                  <a:schemeClr val="accent6">
                    <a:lumMod val="49000"/>
                  </a:schemeClr>
                </a:solidFill>
              </a:rPr>
              <a:t>Prioritize Art </a:t>
            </a:r>
            <a:r>
              <a:rPr lang="en-US" b="1">
                <a:solidFill>
                  <a:schemeClr val="accent6">
                    <a:lumMod val="49000"/>
                  </a:schemeClr>
                </a:solidFill>
              </a:rPr>
              <a:t>Supplies &amp; Books </a:t>
            </a:r>
            <a:endParaRPr lang="en-US" b="1" dirty="0">
              <a:solidFill>
                <a:schemeClr val="accent6">
                  <a:lumMod val="49000"/>
                </a:schemeClr>
              </a:solidFill>
            </a:endParaRPr>
          </a:p>
          <a:p>
            <a:endParaRPr lang="en-US" sz="2400" b="1" dirty="0">
              <a:solidFill>
                <a:srgbClr val="00B0F0"/>
              </a:solidFill>
            </a:endParaRPr>
          </a:p>
          <a:p>
            <a:endParaRPr lang="en-US" sz="2400" b="1" dirty="0">
              <a:solidFill>
                <a:srgbClr val="00B0F0"/>
              </a:solidFill>
            </a:endParaRPr>
          </a:p>
          <a:p>
            <a:r>
              <a:rPr lang="en-US" sz="1500" b="1">
                <a:solidFill>
                  <a:srgbClr val="00B0F0"/>
                </a:solidFill>
              </a:rPr>
              <a:t>Fastest-growing categories (+ </a:t>
            </a:r>
            <a:r>
              <a:rPr lang="en-US" sz="1500" b="1" dirty="0">
                <a:solidFill>
                  <a:srgbClr val="00B0F0"/>
                </a:solidFill>
              </a:rPr>
              <a:t>90%). Low current revenue means significant room to expand with </a:t>
            </a:r>
            <a:r>
              <a:rPr lang="en-US" sz="1500" b="1">
                <a:solidFill>
                  <a:srgbClr val="00B0F0"/>
                </a:solidFill>
              </a:rPr>
              <a:t>targeted promotions &amp; various discounts.</a:t>
            </a:r>
            <a:r>
              <a:rPr lang="en-US" sz="1500" b="1" dirty="0">
                <a:solidFill>
                  <a:srgbClr val="00B0F0"/>
                </a:solidFill>
              </a:rPr>
              <a:t> 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796237-301D-A0EB-4D71-A3F23E4F60FA}"/>
              </a:ext>
            </a:extLst>
          </p:cNvPr>
          <p:cNvSpPr/>
          <p:nvPr/>
        </p:nvSpPr>
        <p:spPr>
          <a:xfrm>
            <a:off x="4683449" y="1111172"/>
            <a:ext cx="2833280" cy="46212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accent6">
                    <a:lumMod val="49000"/>
                  </a:schemeClr>
                </a:solidFill>
              </a:rPr>
              <a:t>Capitalize on Textbook Seasonally </a:t>
            </a:r>
            <a:endParaRPr lang="en-US"/>
          </a:p>
          <a:p>
            <a:endParaRPr lang="en-US" sz="2400" b="1" dirty="0">
              <a:solidFill>
                <a:schemeClr val="accent6">
                  <a:lumMod val="49000"/>
                </a:schemeClr>
              </a:solidFill>
            </a:endParaRPr>
          </a:p>
          <a:p>
            <a:r>
              <a:rPr lang="en-US" sz="1500" b="1" dirty="0">
                <a:solidFill>
                  <a:srgbClr val="00B0F0"/>
                </a:solidFill>
              </a:rPr>
              <a:t>Launch back-to-school campaigns in late </a:t>
            </a:r>
            <a:r>
              <a:rPr lang="en-US" sz="1500" b="1">
                <a:solidFill>
                  <a:srgbClr val="00B0F0"/>
                </a:solidFill>
              </a:rPr>
              <a:t>July-August &amp; again in January. Bundle with Stationary to increase average order value during peak demand.</a:t>
            </a:r>
            <a:r>
              <a:rPr lang="en-US" sz="1500" b="1" dirty="0">
                <a:solidFill>
                  <a:schemeClr val="accent6">
                    <a:lumMod val="49000"/>
                  </a:schemeClr>
                </a:solidFill>
              </a:rPr>
              <a:t> 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BF80FC0-200A-07C8-2ECE-8FC631431FB3}"/>
              </a:ext>
            </a:extLst>
          </p:cNvPr>
          <p:cNvSpPr/>
          <p:nvPr/>
        </p:nvSpPr>
        <p:spPr>
          <a:xfrm>
            <a:off x="8450319" y="1139926"/>
            <a:ext cx="3048940" cy="46069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accent6">
                    <a:lumMod val="49000"/>
                  </a:schemeClr>
                </a:solidFill>
              </a:rPr>
              <a:t>Grow Rewards </a:t>
            </a:r>
            <a:r>
              <a:rPr lang="en-US" b="1" dirty="0">
                <a:solidFill>
                  <a:schemeClr val="accent6">
                    <a:lumMod val="49000"/>
                  </a:schemeClr>
                </a:solidFill>
              </a:rPr>
              <a:t>Enrollment in </a:t>
            </a:r>
            <a:r>
              <a:rPr lang="en-US" b="1">
                <a:solidFill>
                  <a:schemeClr val="accent6">
                    <a:lumMod val="49000"/>
                  </a:schemeClr>
                </a:solidFill>
              </a:rPr>
              <a:t>South Carolina </a:t>
            </a:r>
          </a:p>
          <a:p>
            <a:endParaRPr lang="en-US" sz="2400" b="1" dirty="0">
              <a:solidFill>
                <a:schemeClr val="accent6">
                  <a:lumMod val="49000"/>
                </a:schemeClr>
              </a:solidFill>
            </a:endParaRPr>
          </a:p>
          <a:p>
            <a:r>
              <a:rPr lang="en-US" sz="1500" b="1" dirty="0">
                <a:solidFill>
                  <a:srgbClr val="00B0F0"/>
                </a:solidFill>
              </a:rPr>
              <a:t>Only 10% of SC transactions are linked to a rewards ID therefore sign-up incentives would unlock </a:t>
            </a:r>
            <a:r>
              <a:rPr lang="en-US" sz="1500" b="1">
                <a:solidFill>
                  <a:srgbClr val="00B0F0"/>
                </a:solidFill>
              </a:rPr>
              <a:t>personalized</a:t>
            </a:r>
            <a:r>
              <a:rPr lang="en-US" sz="1500" b="1" dirty="0">
                <a:solidFill>
                  <a:srgbClr val="00B0F0"/>
                </a:solidFill>
              </a:rPr>
              <a:t> marketing.</a:t>
            </a:r>
            <a:r>
              <a:rPr lang="en-US" b="1" dirty="0">
                <a:solidFill>
                  <a:srgbClr val="00B0F0"/>
                </a:solidFill>
              </a:rPr>
              <a:t>  </a:t>
            </a:r>
          </a:p>
        </p:txBody>
      </p:sp>
    </p:spTree>
    <p:extLst>
      <p:ext uri="{BB962C8B-B14F-4D97-AF65-F5344CB8AC3E}">
        <p14:creationId xmlns:p14="http://schemas.microsoft.com/office/powerpoint/2010/main" val="2766344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4027D16-8477-9439-2912-A02011AD8A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55752" y="3705309"/>
            <a:ext cx="10479088" cy="2587625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Vesna cari </a:t>
            </a:r>
            <a:br>
              <a:rPr lang="en-US" dirty="0"/>
            </a:b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vesnacari27-collab/Capstone_2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E1DC35F-9874-BAB6-9C19-C8177EFC1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98843706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6683539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5BC7E"/>
      </a:accent1>
      <a:accent2>
        <a:srgbClr val="FFC330"/>
      </a:accent2>
      <a:accent3>
        <a:srgbClr val="BE80FF"/>
      </a:accent3>
      <a:accent4>
        <a:srgbClr val="FF8345"/>
      </a:accent4>
      <a:accent5>
        <a:srgbClr val="FF70BF"/>
      </a:accent5>
      <a:accent6>
        <a:srgbClr val="60A2F5"/>
      </a:accent6>
      <a:hlink>
        <a:srgbClr val="5C4EDC"/>
      </a:hlink>
      <a:folHlink>
        <a:srgbClr val="7FC5FF"/>
      </a:folHlink>
    </a:clrScheme>
    <a:fontScheme name="Custom 32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8000">
              <a:schemeClr val="accent1">
                <a:lumMod val="5000"/>
                <a:lumOff val="95000"/>
              </a:schemeClr>
            </a:gs>
            <a:gs pos="100000">
              <a:schemeClr val="accent3">
                <a:alpha val="71000"/>
              </a:schemeClr>
            </a:gs>
          </a:gsLst>
          <a:path path="circle">
            <a:fillToRect l="100000" b="100000"/>
          </a:path>
          <a:tileRect t="-100000" r="-100000"/>
        </a:gradFill>
        <a:ln>
          <a:noFill/>
        </a:ln>
        <a:effectLst>
          <a:outerShdw blurRad="330200" dist="304800" dir="5400000" algn="t" rotWithShape="0">
            <a:prstClr val="black">
              <a:alpha val="39000"/>
            </a:prstClr>
          </a:outerShdw>
        </a:effectLst>
      </a:spPr>
      <a:bodyPr rtlCol="0" anchor="ctr"/>
      <a:lstStyle>
        <a:defPPr algn="ctr">
          <a:defRPr>
            <a:solidFill>
              <a:schemeClr val="l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66835393_win32_SD_v3" id="{4170EB69-3ACE-4C18-BE4C-C6CBD8BF8A79}" vid="{8A480AB3-AE5D-4813-AA67-ADACC5EA6C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247F30-5811-40C0-99EC-CF53200590BE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55E72E99-0076-433E-AD3A-575A11FAB7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46EB691-4DD5-4558-B7D1-3EA8CC81E2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</TotalTime>
  <Words>248</Words>
  <Application>Microsoft Office PowerPoint</Application>
  <PresentationFormat>Widescreen</PresentationFormat>
  <Paragraphs>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Light</vt:lpstr>
      <vt:lpstr>Arial</vt:lpstr>
      <vt:lpstr>Calibri</vt:lpstr>
      <vt:lpstr>Wingdings</vt:lpstr>
      <vt:lpstr>Custom</vt:lpstr>
      <vt:lpstr>Data analyst vesna cari</vt:lpstr>
      <vt:lpstr>Territory overview</vt:lpstr>
      <vt:lpstr>Monthly Revenue Trends </vt:lpstr>
      <vt:lpstr>Store Performance Rankings </vt:lpstr>
      <vt:lpstr>PowerPoint Presentation</vt:lpstr>
      <vt:lpstr>Product Category Analysis  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vesna cari</dc:creator>
  <cp:lastModifiedBy>vesna cari</cp:lastModifiedBy>
  <cp:revision>459</cp:revision>
  <dcterms:created xsi:type="dcterms:W3CDTF">2026-05-27T19:57:45Z</dcterms:created>
  <dcterms:modified xsi:type="dcterms:W3CDTF">2026-05-29T07:31:09Z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